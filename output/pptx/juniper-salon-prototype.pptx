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5C4A-3FFB-38B0-F9F9-79CFAA8A5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AB482-898F-9229-9DB4-15AB1439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28BE2-A6D4-735B-6B6D-4590428D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2963D-F2DD-33F0-C0D1-F8292B2D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89B18-E499-7CE3-2529-09C75918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2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2E47-A0AE-333C-E83A-85C29645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FEB9-A195-EFC7-A894-F86E5554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20A51-4AC8-C119-9428-4362CD10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BDD07-4E83-2972-5110-E7C1AB86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5AEA0-730C-F875-71E2-14F11585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1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F14C-F677-765F-1331-772C44915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91E13-865E-D7F0-E5FF-7D92CFCEF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18457-FE9E-910B-6BD7-47BE4E47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76047-C4F5-426B-D5FB-8190A385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DF119-7A2F-D0E1-5C73-3B79FB4E6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7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328C-BC93-6795-C1E1-BC7479A9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92982-0A5E-3ED0-40A3-791C9F967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283CD-94C2-71A2-E37B-A5DBF8659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5FB77-7C23-01E7-6FA7-39090D88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9FE88-119B-97C4-4B8F-09649426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2867F-C019-C079-7E4E-61336E2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5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437B-95E7-B4D9-9B87-E56267AA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5694E-73FF-919E-3750-FE3CF63A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D28FC-7C72-F52C-661E-AC866C961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50311-A9A6-D376-4396-BBEF29B98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0E02A-523B-EDBE-10CC-757A349AD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26FBE-CD95-8DD1-1487-BF43FB08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82AED-1CB9-F7F4-6D62-02070094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251F16-A87F-2DD7-3BDC-CCEF8C79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4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6BCF-4F3B-45C3-56D6-40C9AFCE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393DD-6E20-B4E0-0ECE-E4E97DB6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19EA5-294B-3E79-E9F5-3422F91D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545B2-D11B-220E-EA1F-64628FE7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83069-6C5A-8487-85AA-3EC3BA74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A2B52-CF6C-B999-CC61-13454BAA8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0B382-DF01-C5C3-BD0A-6AD845FE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1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AD436-E3C4-ABD4-3192-AE91B1BCB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9023D-8F7D-026A-5625-3E83837D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08080-4C44-1D9D-A6F3-CD78AE6E8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E2CFC-4955-3F55-A6E8-7C2D9270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707EF-0B83-8D54-4555-21BB16E44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89735-B778-FD65-1D75-787CE579E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2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8632-B77E-2CF8-7614-75402023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61E50-68B0-714E-68D4-ED5C50F2AB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16B73-A4B7-B6D6-C4FE-43326625A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B193D-6755-36D8-1CBB-420DB2B9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C8454-A6F1-9A8A-3F06-8DB67141D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D0F99-7417-4F4C-AE6D-9085A382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6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4044-563E-3E72-A9E6-3D896C35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FC956-9D6C-8140-233F-FBAE8692D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3DA4-39AF-81D2-0ADF-E7A93ED6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3B89-E271-DC99-19A9-51877B60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7EE9E-8042-AB9B-42A3-52E86574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0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24D22-D23A-9A3A-F9F8-235F256E5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A9CCD-CF2A-948A-ECEF-8F525846C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9F61E-6B41-D4D5-E082-55EAD682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A32D9-ACA3-3813-BD7A-382F8BBE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7EB81-97D7-AFDB-BD37-446CCBC0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3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AE9025-AEE8-55DC-625A-2409555CC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79136-22B8-B871-6F42-78E76FAE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2A51D-E9C1-3B46-B7AF-BC45EB433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000C4-01DE-4E7F-8E0F-4B23770DF5A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AC1D8-68D3-3CB6-B627-58B921C92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DFAF5-E10A-4510-4629-9B6816C9C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7EAF9-DEE9-436B-AE5F-F0D15820F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AFB5BE-0696-20BD-F6CD-E87AF34426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A060B4-1A08-4E66-1442-FE2EF2CB32B8}"/>
              </a:ext>
            </a:extLst>
          </p:cNvPr>
          <p:cNvSpPr/>
          <p:nvPr/>
        </p:nvSpPr>
        <p:spPr>
          <a:xfrm>
            <a:off x="0" y="5359400"/>
            <a:ext cx="12192000" cy="1498600"/>
          </a:xfrm>
          <a:prstGeom prst="rect">
            <a:avLst/>
          </a:prstGeom>
          <a:solidFill>
            <a:srgbClr val="204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BBA990-AFF4-86FA-88E6-972D32B8CB42}"/>
              </a:ext>
            </a:extLst>
          </p:cNvPr>
          <p:cNvSpPr/>
          <p:nvPr/>
        </p:nvSpPr>
        <p:spPr>
          <a:xfrm>
            <a:off x="711200" y="762000"/>
            <a:ext cx="558800" cy="76200"/>
          </a:xfrm>
          <a:prstGeom prst="roundRect">
            <a:avLst/>
          </a:prstGeom>
          <a:solidFill>
            <a:srgbClr val="D5A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D4BFB-8923-8BAF-6551-B22327E3B587}"/>
              </a:ext>
            </a:extLst>
          </p:cNvPr>
          <p:cNvSpPr txBox="1"/>
          <p:nvPr/>
        </p:nvSpPr>
        <p:spPr>
          <a:xfrm>
            <a:off x="1422400" y="660400"/>
            <a:ext cx="330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204C3B"/>
                </a:solidFill>
                <a:latin typeface="Segoe UI" panose="020B0502040204020203" pitchFamily="34" charset="0"/>
              </a:rPr>
              <a:t>JUNIPER SALON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378A15-2D00-9B38-A6C0-5CF3B850E53A}"/>
              </a:ext>
            </a:extLst>
          </p:cNvPr>
          <p:cNvSpPr txBox="1"/>
          <p:nvPr/>
        </p:nvSpPr>
        <p:spPr>
          <a:xfrm>
            <a:off x="711200" y="1587499"/>
            <a:ext cx="7620000" cy="158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5000" b="1">
                <a:solidFill>
                  <a:srgbClr val="204C3B"/>
                </a:solidFill>
                <a:latin typeface="Georgia" panose="02040502050405020303" pitchFamily="18" charset="0"/>
              </a:rPr>
              <a:t>Filling last-minute
openings, calmly.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BD851-8FDF-1EB4-8F90-82CA22BDD559}"/>
              </a:ext>
            </a:extLst>
          </p:cNvPr>
          <p:cNvSpPr txBox="1"/>
          <p:nvPr/>
        </p:nvSpPr>
        <p:spPr>
          <a:xfrm>
            <a:off x="736600" y="3301999"/>
            <a:ext cx="711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21362E"/>
                </a:solidFill>
                <a:latin typeface="Segoe UI" panose="020B0502040204020203" pitchFamily="34" charset="0"/>
              </a:rPr>
              <a:t>A working prototype that replaces the spreadsheet-and-text scramble with one fair offer at a time.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10BCD6-BD2A-4E5D-9227-1FE1812C1BB2}"/>
              </a:ext>
            </a:extLst>
          </p:cNvPr>
          <p:cNvSpPr/>
          <p:nvPr/>
        </p:nvSpPr>
        <p:spPr>
          <a:xfrm>
            <a:off x="8509000" y="1244600"/>
            <a:ext cx="2971800" cy="2946400"/>
          </a:xfrm>
          <a:prstGeom prst="roundRect">
            <a:avLst/>
          </a:prstGeom>
          <a:solidFill>
            <a:srgbClr val="DDE9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63DAC1-0E0F-A7BD-C342-22E7EAC40800}"/>
              </a:ext>
            </a:extLst>
          </p:cNvPr>
          <p:cNvSpPr/>
          <p:nvPr/>
        </p:nvSpPr>
        <p:spPr>
          <a:xfrm>
            <a:off x="9436100" y="1803400"/>
            <a:ext cx="1117600" cy="1117600"/>
          </a:xfrm>
          <a:prstGeom prst="ellipse">
            <a:avLst/>
          </a:prstGeom>
          <a:solidFill>
            <a:srgbClr val="204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2DFAE-1FF9-0F40-3A0B-B52099E7F615}"/>
              </a:ext>
            </a:extLst>
          </p:cNvPr>
          <p:cNvSpPr txBox="1"/>
          <p:nvPr/>
        </p:nvSpPr>
        <p:spPr>
          <a:xfrm>
            <a:off x="9436100" y="2006599"/>
            <a:ext cx="1117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3400" b="1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CBDA1-733E-F183-F411-337C5F5322A1}"/>
              </a:ext>
            </a:extLst>
          </p:cNvPr>
          <p:cNvSpPr txBox="1"/>
          <p:nvPr/>
        </p:nvSpPr>
        <p:spPr>
          <a:xfrm>
            <a:off x="9067800" y="3136899"/>
            <a:ext cx="185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2400" b="1">
                <a:solidFill>
                  <a:srgbClr val="204C3B"/>
                </a:solidFill>
                <a:latin typeface="Georgia" panose="02040502050405020303" pitchFamily="18" charset="0"/>
              </a:rPr>
              <a:t>opening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2B3A7-E951-2497-DB8D-C70FFD5DBBB8}"/>
              </a:ext>
            </a:extLst>
          </p:cNvPr>
          <p:cNvSpPr txBox="1"/>
          <p:nvPr/>
        </p:nvSpPr>
        <p:spPr>
          <a:xfrm>
            <a:off x="8991600" y="3670299"/>
            <a:ext cx="2006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>
                <a:solidFill>
                  <a:srgbClr val="68756F"/>
                </a:solidFill>
                <a:latin typeface="Segoe UI" panose="020B0502040204020203" pitchFamily="34" charset="0"/>
              </a:rPr>
              <a:t>one clear path to a filled
chair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DCBF0-F299-864F-A749-CBBB865C5F04}"/>
              </a:ext>
            </a:extLst>
          </p:cNvPr>
          <p:cNvSpPr txBox="1"/>
          <p:nvPr/>
        </p:nvSpPr>
        <p:spPr>
          <a:xfrm>
            <a:off x="711200" y="57531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D5A248"/>
                </a:solidFill>
                <a:latin typeface="Segoe UI" panose="020B0502040204020203" pitchFamily="34" charset="0"/>
              </a:rPr>
              <a:t>THE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A668B-1F11-786B-C587-5D201E16A744}"/>
              </a:ext>
            </a:extLst>
          </p:cNvPr>
          <p:cNvSpPr txBox="1"/>
          <p:nvPr/>
        </p:nvSpPr>
        <p:spPr>
          <a:xfrm>
            <a:off x="2413000" y="5714999"/>
            <a:ext cx="89535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A cancellation creates an empty chair and a manual race to remember who was contacted, how long they have, and what happened.</a:t>
            </a:r>
          </a:p>
        </p:txBody>
      </p:sp>
    </p:spTree>
    <p:extLst>
      <p:ext uri="{BB962C8B-B14F-4D97-AF65-F5344CB8AC3E}">
        <p14:creationId xmlns:p14="http://schemas.microsoft.com/office/powerpoint/2010/main" val="16378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E15B97-BA60-08EC-7A77-54ED9DC672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A38EAC-B506-2AD2-D1FF-BD06B75E5C51}"/>
              </a:ext>
            </a:extLst>
          </p:cNvPr>
          <p:cNvSpPr/>
          <p:nvPr/>
        </p:nvSpPr>
        <p:spPr>
          <a:xfrm>
            <a:off x="711200" y="533400"/>
            <a:ext cx="431800" cy="63500"/>
          </a:xfrm>
          <a:prstGeom prst="roundRect">
            <a:avLst/>
          </a:prstGeom>
          <a:solidFill>
            <a:srgbClr val="D5A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C519C-938C-997C-E84E-783FD7644637}"/>
              </a:ext>
            </a:extLst>
          </p:cNvPr>
          <p:cNvSpPr txBox="1"/>
          <p:nvPr/>
        </p:nvSpPr>
        <p:spPr>
          <a:xfrm>
            <a:off x="1270000" y="457200"/>
            <a:ext cx="508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04C3B"/>
                </a:solidFill>
                <a:latin typeface="Segoe UI" panose="020B0502040204020203" pitchFamily="34" charset="0"/>
              </a:rPr>
              <a:t>PROTOTYPE BEHAVIOR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C54B5-8883-4E47-E08C-63B1A28D9CA7}"/>
              </a:ext>
            </a:extLst>
          </p:cNvPr>
          <p:cNvSpPr txBox="1"/>
          <p:nvPr/>
        </p:nvSpPr>
        <p:spPr>
          <a:xfrm>
            <a:off x="711200" y="838199"/>
            <a:ext cx="10769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 b="1">
                <a:solidFill>
                  <a:srgbClr val="204C3B"/>
                </a:solidFill>
                <a:latin typeface="Georgia" panose="02040502050405020303" pitchFamily="18" charset="0"/>
              </a:rPr>
              <a:t>From cancellation to a confirmed client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1F26C0-CAB2-399F-7A3E-A67AD2E54BC8}"/>
              </a:ext>
            </a:extLst>
          </p:cNvPr>
          <p:cNvCxnSpPr/>
          <p:nvPr/>
        </p:nvCxnSpPr>
        <p:spPr>
          <a:xfrm>
            <a:off x="711200" y="6426200"/>
            <a:ext cx="10769600" cy="0"/>
          </a:xfrm>
          <a:prstGeom prst="line">
            <a:avLst/>
          </a:prstGeom>
          <a:ln w="8890">
            <a:solidFill>
              <a:srgbClr val="D9D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057D09-FAA2-2D05-E389-8060D859EC05}"/>
              </a:ext>
            </a:extLst>
          </p:cNvPr>
          <p:cNvSpPr txBox="1"/>
          <p:nvPr/>
        </p:nvSpPr>
        <p:spPr>
          <a:xfrm>
            <a:off x="711200" y="6515100"/>
            <a:ext cx="330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68756F"/>
                </a:solidFill>
                <a:latin typeface="Segoe UI" panose="020B0502040204020203" pitchFamily="34" charset="0"/>
              </a:rPr>
              <a:t>JUNIPER SALON PROTOTYPE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AAAB5-C27E-E15A-2C3E-E7CD3A6132F0}"/>
              </a:ext>
            </a:extLst>
          </p:cNvPr>
          <p:cNvSpPr txBox="1"/>
          <p:nvPr/>
        </p:nvSpPr>
        <p:spPr>
          <a:xfrm>
            <a:off x="7747000" y="6515100"/>
            <a:ext cx="3733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>
                <a:solidFill>
                  <a:srgbClr val="68756F"/>
                </a:solidFill>
                <a:latin typeface="Segoe UI" panose="020B0502040204020203" pitchFamily="34" charset="0"/>
              </a:rPr>
              <a:t>CUSTOMER CONVERSATION + WORKING DEMO   2/4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5353CE-EBEF-0AAD-8E1A-967554F89F00}"/>
              </a:ext>
            </a:extLst>
          </p:cNvPr>
          <p:cNvSpPr/>
          <p:nvPr/>
        </p:nvSpPr>
        <p:spPr>
          <a:xfrm>
            <a:off x="787400" y="1841500"/>
            <a:ext cx="431800" cy="431800"/>
          </a:xfrm>
          <a:prstGeom prst="ellipse">
            <a:avLst/>
          </a:prstGeom>
          <a:solidFill>
            <a:srgbClr val="204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16921-BBA9-27FB-DA49-F291267CB9A7}"/>
              </a:ext>
            </a:extLst>
          </p:cNvPr>
          <p:cNvSpPr txBox="1"/>
          <p:nvPr/>
        </p:nvSpPr>
        <p:spPr>
          <a:xfrm>
            <a:off x="787400" y="1930400"/>
            <a:ext cx="431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98BAB-D5B3-E564-224C-740ABEEBA0B5}"/>
              </a:ext>
            </a:extLst>
          </p:cNvPr>
          <p:cNvSpPr txBox="1"/>
          <p:nvPr/>
        </p:nvSpPr>
        <p:spPr>
          <a:xfrm>
            <a:off x="1397000" y="1828799"/>
            <a:ext cx="3619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4C3B"/>
                </a:solidFill>
                <a:latin typeface="Segoe UI" panose="020B0502040204020203" pitchFamily="34" charset="0"/>
              </a:rPr>
              <a:t>Add the opening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20D485-138E-21AB-2BC6-EEA7D9C3A126}"/>
              </a:ext>
            </a:extLst>
          </p:cNvPr>
          <p:cNvSpPr txBox="1"/>
          <p:nvPr/>
        </p:nvSpPr>
        <p:spPr>
          <a:xfrm>
            <a:off x="1397000" y="21716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68756F"/>
                </a:solidFill>
                <a:latin typeface="Segoe UI" panose="020B0502040204020203" pitchFamily="34" charset="0"/>
              </a:rPr>
              <a:t>Staff enter the service, stylist, and appointment
time.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DBC454-880D-4FAE-627E-76522E34FC45}"/>
              </a:ext>
            </a:extLst>
          </p:cNvPr>
          <p:cNvSpPr/>
          <p:nvPr/>
        </p:nvSpPr>
        <p:spPr>
          <a:xfrm>
            <a:off x="787400" y="2895600"/>
            <a:ext cx="431800" cy="431800"/>
          </a:xfrm>
          <a:prstGeom prst="ellipse">
            <a:avLst/>
          </a:prstGeom>
          <a:solidFill>
            <a:srgbClr val="204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2D73B6-1AE7-16CF-05FE-769AF837941E}"/>
              </a:ext>
            </a:extLst>
          </p:cNvPr>
          <p:cNvSpPr txBox="1"/>
          <p:nvPr/>
        </p:nvSpPr>
        <p:spPr>
          <a:xfrm>
            <a:off x="787400" y="2984500"/>
            <a:ext cx="431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5AECC3-6E76-5211-082D-EF4209984D1F}"/>
              </a:ext>
            </a:extLst>
          </p:cNvPr>
          <p:cNvSpPr txBox="1"/>
          <p:nvPr/>
        </p:nvSpPr>
        <p:spPr>
          <a:xfrm>
            <a:off x="1397000" y="2882899"/>
            <a:ext cx="3619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4C3B"/>
                </a:solidFill>
                <a:latin typeface="Segoe UI" panose="020B0502040204020203" pitchFamily="34" charset="0"/>
              </a:rPr>
              <a:t>Offer it fairly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F2E3BC-DE5D-A335-3622-24EB4F7D664C}"/>
              </a:ext>
            </a:extLst>
          </p:cNvPr>
          <p:cNvSpPr txBox="1"/>
          <p:nvPr/>
        </p:nvSpPr>
        <p:spPr>
          <a:xfrm>
            <a:off x="1397000" y="32257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68756F"/>
                </a:solidFill>
                <a:latin typeface="Segoe UI" panose="020B0502040204020203" pitchFamily="34" charset="0"/>
              </a:rPr>
              <a:t>The earliest eligible client receives a private offer.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402F0D-9C6E-8255-A1F7-CF3D5F312B03}"/>
              </a:ext>
            </a:extLst>
          </p:cNvPr>
          <p:cNvSpPr/>
          <p:nvPr/>
        </p:nvSpPr>
        <p:spPr>
          <a:xfrm>
            <a:off x="787400" y="3949700"/>
            <a:ext cx="431800" cy="431800"/>
          </a:xfrm>
          <a:prstGeom prst="ellipse">
            <a:avLst/>
          </a:prstGeom>
          <a:solidFill>
            <a:srgbClr val="204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809BFC-9CE9-43C4-1956-1FB76CB24C0E}"/>
              </a:ext>
            </a:extLst>
          </p:cNvPr>
          <p:cNvSpPr txBox="1"/>
          <p:nvPr/>
        </p:nvSpPr>
        <p:spPr>
          <a:xfrm>
            <a:off x="787400" y="4038600"/>
            <a:ext cx="431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92F308-39B1-3899-E0C4-39A3B2E8D3D9}"/>
              </a:ext>
            </a:extLst>
          </p:cNvPr>
          <p:cNvSpPr txBox="1"/>
          <p:nvPr/>
        </p:nvSpPr>
        <p:spPr>
          <a:xfrm>
            <a:off x="1397000" y="3936999"/>
            <a:ext cx="3619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4C3B"/>
                </a:solidFill>
                <a:latin typeface="Segoe UI" panose="020B0502040204020203" pitchFamily="34" charset="0"/>
              </a:rPr>
              <a:t>Keep it moving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8927F-4762-9389-40D0-D74EBE138096}"/>
              </a:ext>
            </a:extLst>
          </p:cNvPr>
          <p:cNvSpPr txBox="1"/>
          <p:nvPr/>
        </p:nvSpPr>
        <p:spPr>
          <a:xfrm>
            <a:off x="1397000" y="42798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68756F"/>
                </a:solidFill>
                <a:latin typeface="Segoe UI" panose="020B0502040204020203" pitchFamily="34" charset="0"/>
              </a:rPr>
              <a:t>A decline, timeout, or delivery failure automatically
advances the list.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1B8350-FD49-7BA2-82AB-C09A45F158EF}"/>
              </a:ext>
            </a:extLst>
          </p:cNvPr>
          <p:cNvSpPr/>
          <p:nvPr/>
        </p:nvSpPr>
        <p:spPr>
          <a:xfrm>
            <a:off x="787400" y="5003800"/>
            <a:ext cx="431800" cy="431800"/>
          </a:xfrm>
          <a:prstGeom prst="ellipse">
            <a:avLst/>
          </a:prstGeom>
          <a:solidFill>
            <a:srgbClr val="D5A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7A1015-4258-C98C-CD1F-31D8BEA543C3}"/>
              </a:ext>
            </a:extLst>
          </p:cNvPr>
          <p:cNvSpPr txBox="1"/>
          <p:nvPr/>
        </p:nvSpPr>
        <p:spPr>
          <a:xfrm>
            <a:off x="787400" y="5092700"/>
            <a:ext cx="431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980329-9C4D-16A2-B31C-122F764E6697}"/>
              </a:ext>
            </a:extLst>
          </p:cNvPr>
          <p:cNvSpPr txBox="1"/>
          <p:nvPr/>
        </p:nvSpPr>
        <p:spPr>
          <a:xfrm>
            <a:off x="1397000" y="4991099"/>
            <a:ext cx="3619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204C3B"/>
                </a:solidFill>
                <a:latin typeface="Segoe UI" panose="020B0502040204020203" pitchFamily="34" charset="0"/>
              </a:rPr>
              <a:t>Confirm one winner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36ACDB-ED76-4D13-B811-10435FCF221E}"/>
              </a:ext>
            </a:extLst>
          </p:cNvPr>
          <p:cNvSpPr txBox="1"/>
          <p:nvPr/>
        </p:nvSpPr>
        <p:spPr>
          <a:xfrm>
            <a:off x="1397000" y="5333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68756F"/>
                </a:solidFill>
                <a:latin typeface="Segoe UI" panose="020B0502040204020203" pitchFamily="34" charset="0"/>
              </a:rPr>
              <a:t>The first acceptance reserves the chair and creates a
Square update task.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6B847A-7B1B-83F4-12AE-8A1844C877AC}"/>
              </a:ext>
            </a:extLst>
          </p:cNvPr>
          <p:cNvSpPr/>
          <p:nvPr/>
        </p:nvSpPr>
        <p:spPr>
          <a:xfrm>
            <a:off x="5524500" y="1651000"/>
            <a:ext cx="5969000" cy="4318000"/>
          </a:xfrm>
          <a:prstGeom prst="roundRect">
            <a:avLst/>
          </a:prstGeom>
          <a:solidFill>
            <a:srgbClr val="D8D1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F7F091-333A-E01A-1646-F746B5E4AC6C}"/>
              </a:ext>
            </a:extLst>
          </p:cNvPr>
          <p:cNvSpPr/>
          <p:nvPr/>
        </p:nvSpPr>
        <p:spPr>
          <a:xfrm>
            <a:off x="5664200" y="1765300"/>
            <a:ext cx="5689600" cy="4089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215EFC3-ECC8-BA1F-011E-2CCE9F2A00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200" y="1765300"/>
            <a:ext cx="4937760" cy="41148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785DFF6-0F6F-5B9E-E269-3054B3CB2C10}"/>
              </a:ext>
            </a:extLst>
          </p:cNvPr>
          <p:cNvSpPr txBox="1"/>
          <p:nvPr/>
        </p:nvSpPr>
        <p:spPr>
          <a:xfrm>
            <a:off x="8255000" y="6019800"/>
            <a:ext cx="309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00">
                <a:solidFill>
                  <a:srgbClr val="68756F"/>
                </a:solidFill>
                <a:latin typeface="Segoe UI" panose="020B0502040204020203" pitchFamily="34" charset="0"/>
              </a:rPr>
              <a:t>Working staff view from the prototype</a:t>
            </a:r>
          </a:p>
        </p:txBody>
      </p:sp>
    </p:spTree>
    <p:extLst>
      <p:ext uri="{BB962C8B-B14F-4D97-AF65-F5344CB8AC3E}">
        <p14:creationId xmlns:p14="http://schemas.microsoft.com/office/powerpoint/2010/main" val="2420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8C7450-7D74-705A-8A84-99E04C125A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771435-0575-EEC8-AE21-1926C8563500}"/>
              </a:ext>
            </a:extLst>
          </p:cNvPr>
          <p:cNvSpPr/>
          <p:nvPr/>
        </p:nvSpPr>
        <p:spPr>
          <a:xfrm>
            <a:off x="711200" y="533400"/>
            <a:ext cx="431800" cy="63500"/>
          </a:xfrm>
          <a:prstGeom prst="roundRect">
            <a:avLst/>
          </a:prstGeom>
          <a:solidFill>
            <a:srgbClr val="D5A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16D6C-74DF-AA17-4A30-40DC52D57599}"/>
              </a:ext>
            </a:extLst>
          </p:cNvPr>
          <p:cNvSpPr txBox="1"/>
          <p:nvPr/>
        </p:nvSpPr>
        <p:spPr>
          <a:xfrm>
            <a:off x="1270000" y="457200"/>
            <a:ext cx="508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04C3B"/>
                </a:solidFill>
                <a:latin typeface="Segoe UI" panose="020B0502040204020203" pitchFamily="34" charset="0"/>
              </a:rPr>
              <a:t>CLIENT EXPERIENCE +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52616-D44C-498F-FF77-70C81AFB1968}"/>
              </a:ext>
            </a:extLst>
          </p:cNvPr>
          <p:cNvSpPr txBox="1"/>
          <p:nvPr/>
        </p:nvSpPr>
        <p:spPr>
          <a:xfrm>
            <a:off x="711200" y="838199"/>
            <a:ext cx="10769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 b="1">
                <a:solidFill>
                  <a:srgbClr val="204C3B"/>
                </a:solidFill>
                <a:latin typeface="Georgia" panose="02040502050405020303" pitchFamily="18" charset="0"/>
              </a:rPr>
              <a:t>Simple for clients, honest about the demo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F14B8B-E9CE-FE25-96D2-BAEC29FA8525}"/>
              </a:ext>
            </a:extLst>
          </p:cNvPr>
          <p:cNvCxnSpPr/>
          <p:nvPr/>
        </p:nvCxnSpPr>
        <p:spPr>
          <a:xfrm>
            <a:off x="711200" y="6426200"/>
            <a:ext cx="10769600" cy="0"/>
          </a:xfrm>
          <a:prstGeom prst="line">
            <a:avLst/>
          </a:prstGeom>
          <a:ln w="8890">
            <a:solidFill>
              <a:srgbClr val="D9D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619CEC-57A8-86E3-B33E-9F28C372A9D8}"/>
              </a:ext>
            </a:extLst>
          </p:cNvPr>
          <p:cNvSpPr txBox="1"/>
          <p:nvPr/>
        </p:nvSpPr>
        <p:spPr>
          <a:xfrm>
            <a:off x="711200" y="6515100"/>
            <a:ext cx="330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68756F"/>
                </a:solidFill>
                <a:latin typeface="Segoe UI" panose="020B0502040204020203" pitchFamily="34" charset="0"/>
              </a:rPr>
              <a:t>JUNIPER SALON PROTOTYPE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1F751-218E-7C6E-BFF5-81153D10EE68}"/>
              </a:ext>
            </a:extLst>
          </p:cNvPr>
          <p:cNvSpPr txBox="1"/>
          <p:nvPr/>
        </p:nvSpPr>
        <p:spPr>
          <a:xfrm>
            <a:off x="7747000" y="6515100"/>
            <a:ext cx="3733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>
                <a:solidFill>
                  <a:srgbClr val="68756F"/>
                </a:solidFill>
                <a:latin typeface="Segoe UI" panose="020B0502040204020203" pitchFamily="34" charset="0"/>
              </a:rPr>
              <a:t>CUSTOMER CONVERSATION + WORKING DEMO   3/4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470A6A-711F-B22C-D8D1-4B8D49640EFD}"/>
              </a:ext>
            </a:extLst>
          </p:cNvPr>
          <p:cNvSpPr/>
          <p:nvPr/>
        </p:nvSpPr>
        <p:spPr>
          <a:xfrm>
            <a:off x="889000" y="1765300"/>
            <a:ext cx="2235200" cy="4457700"/>
          </a:xfrm>
          <a:prstGeom prst="roundRect">
            <a:avLst/>
          </a:prstGeom>
          <a:solidFill>
            <a:srgbClr val="D8D1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1A172E-9728-3739-47E2-EF93EB9242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866900"/>
            <a:ext cx="2032000" cy="42545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550670-56FD-7D5B-71AA-E49E18C7F07C}"/>
              </a:ext>
            </a:extLst>
          </p:cNvPr>
          <p:cNvSpPr/>
          <p:nvPr/>
        </p:nvSpPr>
        <p:spPr>
          <a:xfrm>
            <a:off x="4191000" y="1752600"/>
            <a:ext cx="7289800" cy="2235200"/>
          </a:xfrm>
          <a:prstGeom prst="roundRect">
            <a:avLst/>
          </a:prstGeom>
          <a:solidFill>
            <a:srgbClr val="DDE9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8FABA6-D408-E011-0411-EE234EDDC04C}"/>
              </a:ext>
            </a:extLst>
          </p:cNvPr>
          <p:cNvSpPr/>
          <p:nvPr/>
        </p:nvSpPr>
        <p:spPr>
          <a:xfrm>
            <a:off x="4470400" y="2019300"/>
            <a:ext cx="330200" cy="330200"/>
          </a:xfrm>
          <a:prstGeom prst="ellipse">
            <a:avLst/>
          </a:prstGeom>
          <a:solidFill>
            <a:srgbClr val="204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A956CF-9D8C-ED31-AB05-49AB9EFB4FFC}"/>
              </a:ext>
            </a:extLst>
          </p:cNvPr>
          <p:cNvCxnSpPr/>
          <p:nvPr/>
        </p:nvCxnSpPr>
        <p:spPr>
          <a:xfrm>
            <a:off x="4559300" y="2184400"/>
            <a:ext cx="63500" cy="762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5178FE-0C77-D121-7055-344FBF6BEC7C}"/>
              </a:ext>
            </a:extLst>
          </p:cNvPr>
          <p:cNvCxnSpPr/>
          <p:nvPr/>
        </p:nvCxnSpPr>
        <p:spPr>
          <a:xfrm flipV="1">
            <a:off x="4622800" y="2120900"/>
            <a:ext cx="114300" cy="1397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7F08A4-9942-A5CE-198F-E91DFAA9F8BF}"/>
              </a:ext>
            </a:extLst>
          </p:cNvPr>
          <p:cNvSpPr txBox="1"/>
          <p:nvPr/>
        </p:nvSpPr>
        <p:spPr>
          <a:xfrm>
            <a:off x="4953000" y="2032000"/>
            <a:ext cx="228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04C3B"/>
                </a:solidFill>
                <a:latin typeface="Segoe UI" panose="020B0502040204020203" pitchFamily="34" charset="0"/>
              </a:rPr>
              <a:t>WORKING NOW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F50062-7EB5-AFED-BA20-5443F6D75771}"/>
              </a:ext>
            </a:extLst>
          </p:cNvPr>
          <p:cNvSpPr txBox="1"/>
          <p:nvPr/>
        </p:nvSpPr>
        <p:spPr>
          <a:xfrm>
            <a:off x="4495800" y="2590799"/>
            <a:ext cx="63500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21362E"/>
                </a:solidFill>
                <a:latin typeface="Segoe UI" panose="020B0502040204020203" pitchFamily="34" charset="0"/>
              </a:rPr>
              <a:t>A private, phone-friendly accept or decline page.
A single winner when replies compete.
Staff visibility into every outcome.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54C140-35CB-AAE7-724E-BFF2B359F0EF}"/>
              </a:ext>
            </a:extLst>
          </p:cNvPr>
          <p:cNvSpPr/>
          <p:nvPr/>
        </p:nvSpPr>
        <p:spPr>
          <a:xfrm>
            <a:off x="4191000" y="4114800"/>
            <a:ext cx="7289800" cy="2108200"/>
          </a:xfrm>
          <a:prstGeom prst="roundRect">
            <a:avLst/>
          </a:prstGeom>
          <a:solidFill>
            <a:srgbClr val="F3E2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312A1B-AC46-8CE0-8291-DBC99AE37AEA}"/>
              </a:ext>
            </a:extLst>
          </p:cNvPr>
          <p:cNvSpPr/>
          <p:nvPr/>
        </p:nvSpPr>
        <p:spPr>
          <a:xfrm>
            <a:off x="4470400" y="4394200"/>
            <a:ext cx="330200" cy="330200"/>
          </a:xfrm>
          <a:prstGeom prst="ellipse">
            <a:avLst/>
          </a:prstGeom>
          <a:solidFill>
            <a:srgbClr val="B965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304742-C8B8-0B53-E3AE-CCF4A1B85F51}"/>
              </a:ext>
            </a:extLst>
          </p:cNvPr>
          <p:cNvCxnSpPr/>
          <p:nvPr/>
        </p:nvCxnSpPr>
        <p:spPr>
          <a:xfrm>
            <a:off x="4559300" y="4483100"/>
            <a:ext cx="152400" cy="1524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0081E7-5196-3FEE-0278-1DBFC0337C88}"/>
              </a:ext>
            </a:extLst>
          </p:cNvPr>
          <p:cNvCxnSpPr/>
          <p:nvPr/>
        </p:nvCxnSpPr>
        <p:spPr>
          <a:xfrm flipV="1">
            <a:off x="4559300" y="4483100"/>
            <a:ext cx="152400" cy="15240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EB0CAA-3374-7D77-8689-C37D5E8413C5}"/>
              </a:ext>
            </a:extLst>
          </p:cNvPr>
          <p:cNvSpPr txBox="1"/>
          <p:nvPr/>
        </p:nvSpPr>
        <p:spPr>
          <a:xfrm>
            <a:off x="4953000" y="4406900"/>
            <a:ext cx="2921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B9654F"/>
                </a:solidFill>
                <a:latin typeface="Segoe UI" panose="020B0502040204020203" pitchFamily="34" charset="0"/>
              </a:rPr>
              <a:t>SIMULATED OR EXCLUDED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F5059C-1684-64C5-9AB4-466F5B26E394}"/>
              </a:ext>
            </a:extLst>
          </p:cNvPr>
          <p:cNvSpPr txBox="1"/>
          <p:nvPr/>
        </p:nvSpPr>
        <p:spPr>
          <a:xfrm>
            <a:off x="4495800" y="4978399"/>
            <a:ext cx="64135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1362E"/>
                </a:solidFill>
                <a:latin typeface="Segoe UI" panose="020B0502040204020203" pitchFamily="34" charset="0"/>
              </a:rPr>
              <a:t>Message delivery is simulated, and the 15-minute policy is compressed to 15 seconds.
No live SMS, Square changes, Google Sheets sync, or production sign-in.</a:t>
            </a:r>
          </a:p>
        </p:txBody>
      </p:sp>
    </p:spTree>
    <p:extLst>
      <p:ext uri="{BB962C8B-B14F-4D97-AF65-F5344CB8AC3E}">
        <p14:creationId xmlns:p14="http://schemas.microsoft.com/office/powerpoint/2010/main" val="350027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0C0761-BB06-8220-7636-8749829025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DF2A6B-4B93-A20A-C40D-F283C8E412C7}"/>
              </a:ext>
            </a:extLst>
          </p:cNvPr>
          <p:cNvSpPr/>
          <p:nvPr/>
        </p:nvSpPr>
        <p:spPr>
          <a:xfrm>
            <a:off x="711200" y="533400"/>
            <a:ext cx="431800" cy="63500"/>
          </a:xfrm>
          <a:prstGeom prst="roundRect">
            <a:avLst/>
          </a:prstGeom>
          <a:solidFill>
            <a:srgbClr val="D5A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543BF-A29D-D967-05CE-7B5C50E8AF4C}"/>
              </a:ext>
            </a:extLst>
          </p:cNvPr>
          <p:cNvSpPr txBox="1"/>
          <p:nvPr/>
        </p:nvSpPr>
        <p:spPr>
          <a:xfrm>
            <a:off x="1270000" y="457200"/>
            <a:ext cx="508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04C3B"/>
                </a:solidFill>
                <a:latin typeface="Segoe UI" panose="020B0502040204020203" pitchFamily="34" charset="0"/>
              </a:rPr>
              <a:t>PRACTICAL NEXT STEP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6965B-74F5-4DDB-471D-DA2AAC7C4837}"/>
              </a:ext>
            </a:extLst>
          </p:cNvPr>
          <p:cNvSpPr txBox="1"/>
          <p:nvPr/>
        </p:nvSpPr>
        <p:spPr>
          <a:xfrm>
            <a:off x="711200" y="838199"/>
            <a:ext cx="10769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 b="1">
                <a:solidFill>
                  <a:srgbClr val="204C3B"/>
                </a:solidFill>
                <a:latin typeface="Georgia" panose="02040502050405020303" pitchFamily="18" charset="0"/>
              </a:rPr>
              <a:t>Run one afternoon in shadow mode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B4687D-F354-4718-C8C0-863A8B751E47}"/>
              </a:ext>
            </a:extLst>
          </p:cNvPr>
          <p:cNvCxnSpPr/>
          <p:nvPr/>
        </p:nvCxnSpPr>
        <p:spPr>
          <a:xfrm>
            <a:off x="711200" y="6426200"/>
            <a:ext cx="10769600" cy="0"/>
          </a:xfrm>
          <a:prstGeom prst="line">
            <a:avLst/>
          </a:prstGeom>
          <a:ln w="8890">
            <a:solidFill>
              <a:srgbClr val="D9D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810D7C-B973-E440-F44A-13BFAE402878}"/>
              </a:ext>
            </a:extLst>
          </p:cNvPr>
          <p:cNvSpPr txBox="1"/>
          <p:nvPr/>
        </p:nvSpPr>
        <p:spPr>
          <a:xfrm>
            <a:off x="711200" y="6515100"/>
            <a:ext cx="330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850">
                <a:solidFill>
                  <a:srgbClr val="68756F"/>
                </a:solidFill>
                <a:latin typeface="Segoe UI" panose="020B0502040204020203" pitchFamily="34" charset="0"/>
              </a:rPr>
              <a:t>JUNIPER SALON PROTOTYPE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E3DF2-B650-8104-BA58-33ACC6601DCB}"/>
              </a:ext>
            </a:extLst>
          </p:cNvPr>
          <p:cNvSpPr txBox="1"/>
          <p:nvPr/>
        </p:nvSpPr>
        <p:spPr>
          <a:xfrm>
            <a:off x="7747000" y="6515100"/>
            <a:ext cx="3733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850">
                <a:solidFill>
                  <a:srgbClr val="68756F"/>
                </a:solidFill>
                <a:latin typeface="Segoe UI" panose="020B0502040204020203" pitchFamily="34" charset="0"/>
              </a:rPr>
              <a:t>CUSTOMER CONVERSATION + WORKING DEMO   4/4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BBB6B-1167-BA3B-3050-3638A822D81F}"/>
              </a:ext>
            </a:extLst>
          </p:cNvPr>
          <p:cNvSpPr txBox="1"/>
          <p:nvPr/>
        </p:nvSpPr>
        <p:spPr>
          <a:xfrm>
            <a:off x="711200" y="1841499"/>
            <a:ext cx="48895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21362E"/>
                </a:solidFill>
                <a:latin typeface="Segoe UI" panose="020B0502040204020203" pitchFamily="34" charset="0"/>
              </a:rPr>
              <a:t>Prove the handoff with real staff and real
openings before connecting live systems.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8B7853-0F78-445C-A4A1-75FF353BD4EA}"/>
              </a:ext>
            </a:extLst>
          </p:cNvPr>
          <p:cNvSpPr txBox="1"/>
          <p:nvPr/>
        </p:nvSpPr>
        <p:spPr>
          <a:xfrm>
            <a:off x="711200" y="2844799"/>
            <a:ext cx="63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D5A248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973BB0-4AF6-308D-2ABC-D4C3E0F6D2A9}"/>
              </a:ext>
            </a:extLst>
          </p:cNvPr>
          <p:cNvSpPr txBox="1"/>
          <p:nvPr/>
        </p:nvSpPr>
        <p:spPr>
          <a:xfrm>
            <a:off x="1244600" y="2819399"/>
            <a:ext cx="4343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21362E"/>
                </a:solidFill>
                <a:latin typeface="Segoe UI" panose="020B0502040204020203" pitchFamily="34" charset="0"/>
              </a:rPr>
              <a:t>Add a small opt-in waitlist.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528A3-29D7-1C1B-86A5-8AC8441A069E}"/>
              </a:ext>
            </a:extLst>
          </p:cNvPr>
          <p:cNvSpPr txBox="1"/>
          <p:nvPr/>
        </p:nvSpPr>
        <p:spPr>
          <a:xfrm>
            <a:off x="711200" y="3657599"/>
            <a:ext cx="63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D5A248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B4D7F-B834-0A53-2D0F-9642C9381F44}"/>
              </a:ext>
            </a:extLst>
          </p:cNvPr>
          <p:cNvSpPr txBox="1"/>
          <p:nvPr/>
        </p:nvSpPr>
        <p:spPr>
          <a:xfrm>
            <a:off x="1244600" y="3632199"/>
            <a:ext cx="4343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21362E"/>
                </a:solidFill>
                <a:latin typeface="Segoe UI" panose="020B0502040204020203" pitchFamily="34" charset="0"/>
              </a:rPr>
              <a:t>Let the prototype handle offers while Square remains the
source of truth.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24D66-646E-AED4-18F1-E0F01F1C637B}"/>
              </a:ext>
            </a:extLst>
          </p:cNvPr>
          <p:cNvSpPr txBox="1"/>
          <p:nvPr/>
        </p:nvSpPr>
        <p:spPr>
          <a:xfrm>
            <a:off x="711200" y="4470399"/>
            <a:ext cx="63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D5A248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E55F13-9E23-283E-B4F3-B46615309CEF}"/>
              </a:ext>
            </a:extLst>
          </p:cNvPr>
          <p:cNvSpPr txBox="1"/>
          <p:nvPr/>
        </p:nvSpPr>
        <p:spPr>
          <a:xfrm>
            <a:off x="1244600" y="4444999"/>
            <a:ext cx="4343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21362E"/>
                </a:solidFill>
                <a:latin typeface="Segoe UI" panose="020B0502040204020203" pitchFamily="34" charset="0"/>
              </a:rPr>
              <a:t>Review whether staff stopped watching timers and clients
understood the offer.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DE522-7CCA-7BDB-2F52-73B37E2C26DE}"/>
              </a:ext>
            </a:extLst>
          </p:cNvPr>
          <p:cNvSpPr txBox="1"/>
          <p:nvPr/>
        </p:nvSpPr>
        <p:spPr>
          <a:xfrm>
            <a:off x="711200" y="5283199"/>
            <a:ext cx="635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D5A248"/>
                </a:solidFill>
                <a:latin typeface="Georgia" panose="02040502050405020303" pitchFamily="18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26817-6353-32C3-94C0-BB9B242B84C0}"/>
              </a:ext>
            </a:extLst>
          </p:cNvPr>
          <p:cNvSpPr txBox="1"/>
          <p:nvPr/>
        </p:nvSpPr>
        <p:spPr>
          <a:xfrm>
            <a:off x="1244600" y="5257799"/>
            <a:ext cx="4343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21362E"/>
                </a:solidFill>
                <a:latin typeface="Segoe UI" panose="020B0502040204020203" pitchFamily="34" charset="0"/>
              </a:rPr>
              <a:t>If the pilot works, connect real SMS first; add Square after
the handoff is proven.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B9CADC-83DD-6552-B4F8-C2B94E40F58D}"/>
              </a:ext>
            </a:extLst>
          </p:cNvPr>
          <p:cNvSpPr/>
          <p:nvPr/>
        </p:nvSpPr>
        <p:spPr>
          <a:xfrm>
            <a:off x="6096000" y="1663700"/>
            <a:ext cx="5384800" cy="3670300"/>
          </a:xfrm>
          <a:prstGeom prst="roundRect">
            <a:avLst/>
          </a:prstGeom>
          <a:solidFill>
            <a:srgbClr val="D8D1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A25BEF-14B6-5B3A-39EC-FEA9C139E3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765300"/>
            <a:ext cx="5181600" cy="33147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534A0AE-0160-43C8-6473-B23A804ED558}"/>
              </a:ext>
            </a:extLst>
          </p:cNvPr>
          <p:cNvSpPr/>
          <p:nvPr/>
        </p:nvSpPr>
        <p:spPr>
          <a:xfrm>
            <a:off x="6477000" y="5054600"/>
            <a:ext cx="4597400" cy="965200"/>
          </a:xfrm>
          <a:prstGeom prst="roundRect">
            <a:avLst/>
          </a:prstGeom>
          <a:solidFill>
            <a:srgbClr val="204C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4943E0-4119-96B9-7B40-D5048D8F2A65}"/>
              </a:ext>
            </a:extLst>
          </p:cNvPr>
          <p:cNvSpPr txBox="1"/>
          <p:nvPr/>
        </p:nvSpPr>
        <p:spPr>
          <a:xfrm>
            <a:off x="6756400" y="5295899"/>
            <a:ext cx="40386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Every offer, timeout, and response stays visible
in the workflow history.</a:t>
            </a:r>
          </a:p>
        </p:txBody>
      </p:sp>
    </p:spTree>
    <p:extLst>
      <p:ext uri="{BB962C8B-B14F-4D97-AF65-F5344CB8AC3E}">
        <p14:creationId xmlns:p14="http://schemas.microsoft.com/office/powerpoint/2010/main" val="624677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Custom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Robel Asghedom Sebhat</dc:creator>
  <cp:lastModifiedBy>Robel Asghedom Sebhat</cp:lastModifiedBy>
  <cp:revision>1</cp:revision>
  <dcterms:created xsi:type="dcterms:W3CDTF">2026-10-06T06:56:26Z</dcterms:created>
  <dcterms:modified xsi:type="dcterms:W3CDTF">2026-10-06T06:56:26Z</dcterms:modified>
</cp:coreProperties>
</file>